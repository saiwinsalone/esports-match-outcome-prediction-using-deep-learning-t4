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cade Gamer" charset="1" panose="00000000000000000000"/>
      <p:regular r:id="rId15"/>
    </p:embeddedFont>
    <p:embeddedFont>
      <p:font typeface="Open Sans"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embeddings/oleObject1.bin" Type="http://schemas.openxmlformats.org/officeDocument/2006/relationships/oleObjec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embeddings/oleObject2.bin" Type="http://schemas.openxmlformats.org/officeDocument/2006/relationships/oleObjec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6919236" y="152971"/>
            <a:ext cx="4028788" cy="4028788"/>
          </a:xfrm>
          <a:custGeom>
            <a:avLst/>
            <a:gdLst/>
            <a:ahLst/>
            <a:cxnLst/>
            <a:rect r="r" b="b" t="t" l="l"/>
            <a:pathLst>
              <a:path h="4028788" w="4028788">
                <a:moveTo>
                  <a:pt x="0" y="0"/>
                </a:moveTo>
                <a:lnTo>
                  <a:pt x="4028788" y="0"/>
                </a:lnTo>
                <a:lnTo>
                  <a:pt x="4028788" y="4028788"/>
                </a:lnTo>
                <a:lnTo>
                  <a:pt x="0" y="40287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28700" y="7687654"/>
            <a:ext cx="2776001" cy="2599346"/>
          </a:xfrm>
          <a:custGeom>
            <a:avLst/>
            <a:gdLst/>
            <a:ahLst/>
            <a:cxnLst/>
            <a:rect r="r" b="b" t="t" l="l"/>
            <a:pathLst>
              <a:path h="2599346" w="2776001">
                <a:moveTo>
                  <a:pt x="2776001" y="0"/>
                </a:moveTo>
                <a:lnTo>
                  <a:pt x="0" y="0"/>
                </a:lnTo>
                <a:lnTo>
                  <a:pt x="0" y="2599346"/>
                </a:lnTo>
                <a:lnTo>
                  <a:pt x="2776001" y="2599346"/>
                </a:lnTo>
                <a:lnTo>
                  <a:pt x="277600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028251" y="9539425"/>
            <a:ext cx="2569790" cy="747575"/>
          </a:xfrm>
          <a:custGeom>
            <a:avLst/>
            <a:gdLst/>
            <a:ahLst/>
            <a:cxnLst/>
            <a:rect r="r" b="b" t="t" l="l"/>
            <a:pathLst>
              <a:path h="747575" w="2569790">
                <a:moveTo>
                  <a:pt x="0" y="0"/>
                </a:moveTo>
                <a:lnTo>
                  <a:pt x="2569789" y="0"/>
                </a:lnTo>
                <a:lnTo>
                  <a:pt x="2569789" y="747575"/>
                </a:lnTo>
                <a:lnTo>
                  <a:pt x="0" y="7475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4137762" y="7687654"/>
            <a:ext cx="2599346" cy="2599346"/>
          </a:xfrm>
          <a:custGeom>
            <a:avLst/>
            <a:gdLst/>
            <a:ahLst/>
            <a:cxnLst/>
            <a:rect r="r" b="b" t="t" l="l"/>
            <a:pathLst>
              <a:path h="2599346" w="2599346">
                <a:moveTo>
                  <a:pt x="2599346" y="0"/>
                </a:moveTo>
                <a:lnTo>
                  <a:pt x="0" y="0"/>
                </a:lnTo>
                <a:lnTo>
                  <a:pt x="0" y="2599346"/>
                </a:lnTo>
                <a:lnTo>
                  <a:pt x="2599346" y="2599346"/>
                </a:lnTo>
                <a:lnTo>
                  <a:pt x="2599346"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83296" y="6172200"/>
            <a:ext cx="845404" cy="4114800"/>
          </a:xfrm>
          <a:custGeom>
            <a:avLst/>
            <a:gdLst/>
            <a:ahLst/>
            <a:cxnLst/>
            <a:rect r="r" b="b" t="t" l="l"/>
            <a:pathLst>
              <a:path h="4114800" w="845404">
                <a:moveTo>
                  <a:pt x="0" y="0"/>
                </a:moveTo>
                <a:lnTo>
                  <a:pt x="845404" y="0"/>
                </a:lnTo>
                <a:lnTo>
                  <a:pt x="845404"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5542069" y="9629372"/>
            <a:ext cx="1826745" cy="657628"/>
          </a:xfrm>
          <a:custGeom>
            <a:avLst/>
            <a:gdLst/>
            <a:ahLst/>
            <a:cxnLst/>
            <a:rect r="r" b="b" t="t" l="l"/>
            <a:pathLst>
              <a:path h="657628" w="1826745">
                <a:moveTo>
                  <a:pt x="0" y="0"/>
                </a:moveTo>
                <a:lnTo>
                  <a:pt x="1826746" y="0"/>
                </a:lnTo>
                <a:lnTo>
                  <a:pt x="1826746" y="657628"/>
                </a:lnTo>
                <a:lnTo>
                  <a:pt x="0" y="6576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0">
            <a:off x="1870875" y="9420673"/>
            <a:ext cx="2268953" cy="866327"/>
          </a:xfrm>
          <a:custGeom>
            <a:avLst/>
            <a:gdLst/>
            <a:ahLst/>
            <a:cxnLst/>
            <a:rect r="r" b="b" t="t" l="l"/>
            <a:pathLst>
              <a:path h="866327" w="2268953">
                <a:moveTo>
                  <a:pt x="0" y="0"/>
                </a:moveTo>
                <a:lnTo>
                  <a:pt x="2268953" y="0"/>
                </a:lnTo>
                <a:lnTo>
                  <a:pt x="2268953" y="866327"/>
                </a:lnTo>
                <a:lnTo>
                  <a:pt x="0" y="8663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false" rot="0">
            <a:off x="14901719" y="2660030"/>
            <a:ext cx="2359993" cy="823852"/>
          </a:xfrm>
          <a:custGeom>
            <a:avLst/>
            <a:gdLst/>
            <a:ahLst/>
            <a:cxnLst/>
            <a:rect r="r" b="b" t="t" l="l"/>
            <a:pathLst>
              <a:path h="823852" w="2359993">
                <a:moveTo>
                  <a:pt x="2359993" y="0"/>
                </a:moveTo>
                <a:lnTo>
                  <a:pt x="0" y="0"/>
                </a:lnTo>
                <a:lnTo>
                  <a:pt x="0" y="823852"/>
                </a:lnTo>
                <a:lnTo>
                  <a:pt x="2359993" y="823852"/>
                </a:lnTo>
                <a:lnTo>
                  <a:pt x="2359993"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true" flipV="false" rot="0">
            <a:off x="14546157" y="631973"/>
            <a:ext cx="4453058" cy="793454"/>
          </a:xfrm>
          <a:custGeom>
            <a:avLst/>
            <a:gdLst/>
            <a:ahLst/>
            <a:cxnLst/>
            <a:rect r="r" b="b" t="t" l="l"/>
            <a:pathLst>
              <a:path h="793454" w="4453058">
                <a:moveTo>
                  <a:pt x="4453058" y="0"/>
                </a:moveTo>
                <a:lnTo>
                  <a:pt x="0" y="0"/>
                </a:lnTo>
                <a:lnTo>
                  <a:pt x="0" y="793454"/>
                </a:lnTo>
                <a:lnTo>
                  <a:pt x="4453058" y="793454"/>
                </a:lnTo>
                <a:lnTo>
                  <a:pt x="4453058"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0" y="0"/>
            <a:ext cx="5269732" cy="2524505"/>
          </a:xfrm>
          <a:custGeom>
            <a:avLst/>
            <a:gdLst/>
            <a:ahLst/>
            <a:cxnLst/>
            <a:rect r="r" b="b" t="t" l="l"/>
            <a:pathLst>
              <a:path h="2524505" w="5269732">
                <a:moveTo>
                  <a:pt x="0" y="0"/>
                </a:moveTo>
                <a:lnTo>
                  <a:pt x="5269732" y="0"/>
                </a:lnTo>
                <a:lnTo>
                  <a:pt x="5269732" y="2524505"/>
                </a:lnTo>
                <a:lnTo>
                  <a:pt x="0" y="2524505"/>
                </a:lnTo>
                <a:lnTo>
                  <a:pt x="0" y="0"/>
                </a:lnTo>
                <a:close/>
              </a:path>
            </a:pathLst>
          </a:custGeom>
          <a:blipFill>
            <a:blip r:embed="rId20"/>
            <a:stretch>
              <a:fillRect l="0" t="0" r="0" b="0"/>
            </a:stretch>
          </a:blipFill>
        </p:spPr>
      </p:sp>
      <p:sp>
        <p:nvSpPr>
          <p:cNvPr name="TextBox 12" id="12"/>
          <p:cNvSpPr txBox="true"/>
          <p:nvPr/>
        </p:nvSpPr>
        <p:spPr>
          <a:xfrm rot="0">
            <a:off x="1502262" y="4679048"/>
            <a:ext cx="15442221" cy="795553"/>
          </a:xfrm>
          <a:prstGeom prst="rect">
            <a:avLst/>
          </a:prstGeom>
        </p:spPr>
        <p:txBody>
          <a:bodyPr anchor="t" rtlCol="false" tIns="0" lIns="0" bIns="0" rIns="0">
            <a:spAutoFit/>
          </a:bodyPr>
          <a:lstStyle/>
          <a:p>
            <a:pPr algn="ctr">
              <a:lnSpc>
                <a:spcPts val="6147"/>
              </a:lnSpc>
              <a:spcBef>
                <a:spcPct val="0"/>
              </a:spcBef>
            </a:pPr>
            <a:r>
              <a:rPr lang="en-US" sz="4390">
                <a:solidFill>
                  <a:srgbClr val="FFFFFF"/>
                </a:solidFill>
                <a:latin typeface="Arcade Gamer"/>
                <a:ea typeface="Arcade Gamer"/>
                <a:cs typeface="Arcade Gamer"/>
                <a:sym typeface="Arcade Gamer"/>
              </a:rPr>
              <a:t>ESPORTS TEAM WIN PREDICTION SYSTEM</a:t>
            </a:r>
          </a:p>
        </p:txBody>
      </p:sp>
      <p:sp>
        <p:nvSpPr>
          <p:cNvPr name="TextBox 13" id="13"/>
          <p:cNvSpPr txBox="true"/>
          <p:nvPr/>
        </p:nvSpPr>
        <p:spPr>
          <a:xfrm rot="0">
            <a:off x="6263777" y="7210659"/>
            <a:ext cx="11795642" cy="2418713"/>
          </a:xfrm>
          <a:prstGeom prst="rect">
            <a:avLst/>
          </a:prstGeom>
        </p:spPr>
        <p:txBody>
          <a:bodyPr anchor="t" rtlCol="false" tIns="0" lIns="0" bIns="0" rIns="0">
            <a:spAutoFit/>
          </a:bodyPr>
          <a:lstStyle/>
          <a:p>
            <a:pPr algn="ctr">
              <a:lnSpc>
                <a:spcPts val="4760"/>
              </a:lnSpc>
              <a:spcBef>
                <a:spcPct val="0"/>
              </a:spcBef>
            </a:pPr>
            <a:r>
              <a:rPr lang="en-US" sz="3400">
                <a:solidFill>
                  <a:srgbClr val="FFFFFF"/>
                </a:solidFill>
                <a:latin typeface="Arcade Gamer"/>
                <a:ea typeface="Arcade Gamer"/>
                <a:cs typeface="Arcade Gamer"/>
                <a:sym typeface="Arcade Gamer"/>
              </a:rPr>
              <a:t>PR</a:t>
            </a:r>
            <a:r>
              <a:rPr lang="en-US" sz="3400">
                <a:solidFill>
                  <a:srgbClr val="FFFFFF"/>
                </a:solidFill>
                <a:latin typeface="Arcade Gamer"/>
                <a:ea typeface="Arcade Gamer"/>
                <a:cs typeface="Arcade Gamer"/>
                <a:sym typeface="Arcade Gamer"/>
              </a:rPr>
              <a:t>OJECT PRESENTED BY:</a:t>
            </a:r>
          </a:p>
          <a:p>
            <a:pPr algn="ctr" marL="734077" indent="-367039" lvl="1">
              <a:lnSpc>
                <a:spcPts val="4760"/>
              </a:lnSpc>
              <a:spcBef>
                <a:spcPct val="0"/>
              </a:spcBef>
              <a:buFont typeface="Arial"/>
              <a:buChar char="•"/>
            </a:pPr>
            <a:r>
              <a:rPr lang="en-US" sz="3400">
                <a:solidFill>
                  <a:srgbClr val="FFFFFF"/>
                </a:solidFill>
                <a:latin typeface="Arcade Gamer"/>
                <a:ea typeface="Arcade Gamer"/>
                <a:cs typeface="Arcade Gamer"/>
                <a:sym typeface="Arcade Gamer"/>
              </a:rPr>
              <a:t>B. GURU SAI 2520090075</a:t>
            </a:r>
          </a:p>
          <a:p>
            <a:pPr algn="ctr" marL="734077" indent="-367039" lvl="1">
              <a:lnSpc>
                <a:spcPts val="4760"/>
              </a:lnSpc>
              <a:spcBef>
                <a:spcPct val="0"/>
              </a:spcBef>
              <a:buFont typeface="Arial"/>
              <a:buChar char="•"/>
            </a:pPr>
            <a:r>
              <a:rPr lang="en-US" sz="3400">
                <a:solidFill>
                  <a:srgbClr val="FFFFFF"/>
                </a:solidFill>
                <a:latin typeface="Arcade Gamer"/>
                <a:ea typeface="Arcade Gamer"/>
                <a:cs typeface="Arcade Gamer"/>
                <a:sym typeface="Arcade Gamer"/>
              </a:rPr>
              <a:t>S. VARUN SRIDHAR REDDY  2520090083</a:t>
            </a:r>
          </a:p>
          <a:p>
            <a:pPr algn="ctr">
              <a:lnSpc>
                <a:spcPts val="4760"/>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true" flipV="false" rot="0">
            <a:off x="9485705" y="8490602"/>
            <a:ext cx="4989995" cy="1796398"/>
          </a:xfrm>
          <a:custGeom>
            <a:avLst/>
            <a:gdLst/>
            <a:ahLst/>
            <a:cxnLst/>
            <a:rect r="r" b="b" t="t" l="l"/>
            <a:pathLst>
              <a:path h="1796398" w="4989995">
                <a:moveTo>
                  <a:pt x="4989995" y="0"/>
                </a:moveTo>
                <a:lnTo>
                  <a:pt x="0" y="0"/>
                </a:lnTo>
                <a:lnTo>
                  <a:pt x="0" y="1796398"/>
                </a:lnTo>
                <a:lnTo>
                  <a:pt x="4989995" y="1796398"/>
                </a:lnTo>
                <a:lnTo>
                  <a:pt x="49899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20606" y="7708884"/>
            <a:ext cx="4723518" cy="2241524"/>
          </a:xfrm>
          <a:custGeom>
            <a:avLst/>
            <a:gdLst/>
            <a:ahLst/>
            <a:cxnLst/>
            <a:rect r="r" b="b" t="t" l="l"/>
            <a:pathLst>
              <a:path h="2241524" w="4723518">
                <a:moveTo>
                  <a:pt x="0" y="0"/>
                </a:moveTo>
                <a:lnTo>
                  <a:pt x="4723518" y="0"/>
                </a:lnTo>
                <a:lnTo>
                  <a:pt x="4723518" y="2241524"/>
                </a:lnTo>
                <a:lnTo>
                  <a:pt x="0" y="22415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8072509" y="-53181"/>
            <a:ext cx="5029866" cy="1454378"/>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Freeform 5" id="5"/>
          <p:cNvSpPr/>
          <p:nvPr/>
        </p:nvSpPr>
        <p:spPr>
          <a:xfrm flipH="true" flipV="false" rot="0">
            <a:off x="16681517" y="409711"/>
            <a:ext cx="2359993" cy="823852"/>
          </a:xfrm>
          <a:custGeom>
            <a:avLst/>
            <a:gdLst/>
            <a:ahLst/>
            <a:cxnLst/>
            <a:rect r="r" b="b" t="t" l="l"/>
            <a:pathLst>
              <a:path h="823852" w="2359993">
                <a:moveTo>
                  <a:pt x="2359993" y="0"/>
                </a:moveTo>
                <a:lnTo>
                  <a:pt x="0" y="0"/>
                </a:lnTo>
                <a:lnTo>
                  <a:pt x="0" y="823852"/>
                </a:lnTo>
                <a:lnTo>
                  <a:pt x="2359993" y="823852"/>
                </a:lnTo>
                <a:lnTo>
                  <a:pt x="235999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25333" y="562555"/>
            <a:ext cx="2908065" cy="518164"/>
          </a:xfrm>
          <a:custGeom>
            <a:avLst/>
            <a:gdLst/>
            <a:ahLst/>
            <a:cxnLst/>
            <a:rect r="r" b="b" t="t" l="l"/>
            <a:pathLst>
              <a:path h="518164" w="2908065">
                <a:moveTo>
                  <a:pt x="0" y="0"/>
                </a:moveTo>
                <a:lnTo>
                  <a:pt x="2908066" y="0"/>
                </a:lnTo>
                <a:lnTo>
                  <a:pt x="2908066" y="518164"/>
                </a:lnTo>
                <a:lnTo>
                  <a:pt x="0" y="5181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882521" y="2547769"/>
            <a:ext cx="15206370" cy="4722067"/>
          </a:xfrm>
          <a:prstGeom prst="rect">
            <a:avLst/>
          </a:prstGeom>
        </p:spPr>
        <p:txBody>
          <a:bodyPr anchor="t" rtlCol="false" tIns="0" lIns="0" bIns="0" rIns="0">
            <a:spAutoFit/>
          </a:bodyPr>
          <a:lstStyle/>
          <a:p>
            <a:pPr algn="just">
              <a:lnSpc>
                <a:spcPts val="3745"/>
              </a:lnSpc>
              <a:spcBef>
                <a:spcPct val="0"/>
              </a:spcBef>
            </a:pPr>
            <a:r>
              <a:rPr lang="en-US" sz="2675">
                <a:solidFill>
                  <a:srgbClr val="FFFFFF"/>
                </a:solidFill>
                <a:latin typeface="Arcade Gamer"/>
                <a:ea typeface="Arcade Gamer"/>
                <a:cs typeface="Arcade Gamer"/>
                <a:sym typeface="Arcade Gamer"/>
              </a:rPr>
              <a:t>ESPORTS MATCHES GENERATE A LARGE AM</a:t>
            </a:r>
            <a:r>
              <a:rPr lang="en-US" sz="2675">
                <a:solidFill>
                  <a:srgbClr val="FFFFFF"/>
                </a:solidFill>
                <a:latin typeface="Arcade Gamer"/>
                <a:ea typeface="Arcade Gamer"/>
                <a:cs typeface="Arcade Gamer"/>
                <a:sym typeface="Arcade Gamer"/>
              </a:rPr>
              <a:t>OUNT OF STATISTICAL INFORMATION RELATED TO TEAM AND PLAYER PERFORMANCE.</a:t>
            </a:r>
          </a:p>
          <a:p>
            <a:pPr algn="just">
              <a:lnSpc>
                <a:spcPts val="3745"/>
              </a:lnSpc>
              <a:spcBef>
                <a:spcPct val="0"/>
              </a:spcBef>
            </a:pPr>
            <a:r>
              <a:rPr lang="en-US" sz="2675">
                <a:solidFill>
                  <a:srgbClr val="FFFFFF"/>
                </a:solidFill>
                <a:latin typeface="Arcade Gamer"/>
                <a:ea typeface="Arcade Gamer"/>
                <a:cs typeface="Arcade Gamer"/>
                <a:sym typeface="Arcade Gamer"/>
              </a:rPr>
              <a:t>ANALYZING ALL THESE STATISTICS MANUALLY CAN BE DIFFICULT. MACHINE LEARNING CAN IDENTIFY PATTERNS IN HISTORICAL MATCH DATA AND USE THOSE PATTERNS TO CLASSIFY THE EXPECTED OUTCOME.</a:t>
            </a:r>
          </a:p>
          <a:p>
            <a:pPr algn="just">
              <a:lnSpc>
                <a:spcPts val="3745"/>
              </a:lnSpc>
              <a:spcBef>
                <a:spcPct val="0"/>
              </a:spcBef>
            </a:pPr>
            <a:r>
              <a:rPr lang="en-US" sz="2675">
                <a:solidFill>
                  <a:srgbClr val="FFFFFF"/>
                </a:solidFill>
                <a:latin typeface="Arcade Gamer"/>
                <a:ea typeface="Arcade Gamer"/>
                <a:cs typeface="Arcade Gamer"/>
                <a:sym typeface="Arcade Gamer"/>
              </a:rPr>
              <a:t>THE PROPOSED SYSTEM FOCUSES ON BINARY CLASSIFICATION, WHERE THE OUTPUT CONSISTS OF TWO POSSIBLE CLASSES:</a:t>
            </a:r>
          </a:p>
          <a:p>
            <a:pPr algn="just">
              <a:lnSpc>
                <a:spcPts val="3745"/>
              </a:lnSpc>
              <a:spcBef>
                <a:spcPct val="0"/>
              </a:spcBef>
            </a:pPr>
            <a:r>
              <a:rPr lang="en-US" sz="2675">
                <a:solidFill>
                  <a:srgbClr val="FFFFFF"/>
                </a:solidFill>
                <a:latin typeface="Arcade Gamer"/>
                <a:ea typeface="Arcade Gamer"/>
                <a:cs typeface="Arcade Gamer"/>
                <a:sym typeface="Arcade Gamer"/>
              </a:rPr>
              <a:t>WIN / LOSS</a:t>
            </a:r>
          </a:p>
          <a:p>
            <a:pPr algn="just">
              <a:lnSpc>
                <a:spcPts val="3745"/>
              </a:lnSpc>
              <a:spcBef>
                <a:spcPct val="0"/>
              </a:spcBef>
            </a:pPr>
          </a:p>
        </p:txBody>
      </p:sp>
      <p:sp>
        <p:nvSpPr>
          <p:cNvPr name="TextBox 8" id="8"/>
          <p:cNvSpPr txBox="true"/>
          <p:nvPr/>
        </p:nvSpPr>
        <p:spPr>
          <a:xfrm rot="0">
            <a:off x="5625493" y="549851"/>
            <a:ext cx="10277905" cy="91122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 INTRODUCTION </a:t>
            </a:r>
          </a:p>
        </p:txBody>
      </p:sp>
      <p:sp>
        <p:nvSpPr>
          <p:cNvPr name="TextBox 9" id="9"/>
          <p:cNvSpPr txBox="true"/>
          <p:nvPr/>
        </p:nvSpPr>
        <p:spPr>
          <a:xfrm rot="0">
            <a:off x="9139238" y="876300"/>
            <a:ext cx="9525" cy="911224"/>
          </a:xfrm>
          <a:prstGeom prst="rect">
            <a:avLst/>
          </a:prstGeom>
        </p:spPr>
        <p:txBody>
          <a:bodyPr anchor="t" rtlCol="false" tIns="0" lIns="0" bIns="0" rIns="0">
            <a:spAutoFit/>
          </a:bodyPr>
          <a:lstStyle/>
          <a:p>
            <a:pPr algn="ctr">
              <a:lnSpc>
                <a:spcPts val="70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0" y="8907087"/>
            <a:ext cx="9144000" cy="1379913"/>
          </a:xfrm>
          <a:custGeom>
            <a:avLst/>
            <a:gdLst/>
            <a:ahLst/>
            <a:cxnLst/>
            <a:rect r="r" b="b" t="t" l="l"/>
            <a:pathLst>
              <a:path h="1379913" w="9144000">
                <a:moveTo>
                  <a:pt x="0" y="0"/>
                </a:moveTo>
                <a:lnTo>
                  <a:pt x="9144000" y="0"/>
                </a:lnTo>
                <a:lnTo>
                  <a:pt x="9144000" y="1379913"/>
                </a:lnTo>
                <a:lnTo>
                  <a:pt x="0" y="13799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9144000" y="8907087"/>
            <a:ext cx="9144000" cy="1379913"/>
          </a:xfrm>
          <a:custGeom>
            <a:avLst/>
            <a:gdLst/>
            <a:ahLst/>
            <a:cxnLst/>
            <a:rect r="r" b="b" t="t" l="l"/>
            <a:pathLst>
              <a:path h="1379913" w="9144000">
                <a:moveTo>
                  <a:pt x="9144000" y="0"/>
                </a:moveTo>
                <a:lnTo>
                  <a:pt x="0" y="0"/>
                </a:lnTo>
                <a:lnTo>
                  <a:pt x="0" y="1379913"/>
                </a:lnTo>
                <a:lnTo>
                  <a:pt x="9144000" y="1379913"/>
                </a:lnTo>
                <a:lnTo>
                  <a:pt x="91440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571031" y="4522832"/>
            <a:ext cx="2882084" cy="5764168"/>
          </a:xfrm>
          <a:custGeom>
            <a:avLst/>
            <a:gdLst/>
            <a:ahLst/>
            <a:cxnLst/>
            <a:rect r="r" b="b" t="t" l="l"/>
            <a:pathLst>
              <a:path h="5764168" w="2882084">
                <a:moveTo>
                  <a:pt x="2882084" y="0"/>
                </a:moveTo>
                <a:lnTo>
                  <a:pt x="0" y="0"/>
                </a:lnTo>
                <a:lnTo>
                  <a:pt x="0" y="5764168"/>
                </a:lnTo>
                <a:lnTo>
                  <a:pt x="2882084" y="5764168"/>
                </a:lnTo>
                <a:lnTo>
                  <a:pt x="288208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437560" y="7732918"/>
            <a:ext cx="5426497" cy="2575119"/>
          </a:xfrm>
          <a:custGeom>
            <a:avLst/>
            <a:gdLst/>
            <a:ahLst/>
            <a:cxnLst/>
            <a:rect r="r" b="b" t="t" l="l"/>
            <a:pathLst>
              <a:path h="2575119" w="5426497">
                <a:moveTo>
                  <a:pt x="0" y="0"/>
                </a:moveTo>
                <a:lnTo>
                  <a:pt x="5426497" y="0"/>
                </a:lnTo>
                <a:lnTo>
                  <a:pt x="5426497" y="2575119"/>
                </a:lnTo>
                <a:lnTo>
                  <a:pt x="0" y="25751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2397" y="297902"/>
            <a:ext cx="15301135" cy="1518794"/>
          </a:xfrm>
          <a:prstGeom prst="rect">
            <a:avLst/>
          </a:prstGeom>
        </p:spPr>
        <p:txBody>
          <a:bodyPr anchor="t" rtlCol="false" tIns="0" lIns="0" bIns="0" rIns="0">
            <a:spAutoFit/>
          </a:bodyPr>
          <a:lstStyle/>
          <a:p>
            <a:pPr algn="ctr">
              <a:lnSpc>
                <a:spcPts val="11836"/>
              </a:lnSpc>
              <a:spcBef>
                <a:spcPct val="0"/>
              </a:spcBef>
            </a:pPr>
            <a:r>
              <a:rPr lang="en-US" sz="8454">
                <a:solidFill>
                  <a:srgbClr val="FFFFFF"/>
                </a:solidFill>
                <a:latin typeface="Arcade Gamer"/>
                <a:ea typeface="Arcade Gamer"/>
                <a:cs typeface="Arcade Gamer"/>
                <a:sym typeface="Arcade Gamer"/>
              </a:rPr>
              <a:t>PROBLEM STATEMENT</a:t>
            </a:r>
          </a:p>
        </p:txBody>
      </p:sp>
      <p:sp>
        <p:nvSpPr>
          <p:cNvPr name="Freeform 7" id="7"/>
          <p:cNvSpPr/>
          <p:nvPr/>
        </p:nvSpPr>
        <p:spPr>
          <a:xfrm flipH="true" flipV="false" rot="0">
            <a:off x="14901719" y="2660030"/>
            <a:ext cx="2359993" cy="823852"/>
          </a:xfrm>
          <a:custGeom>
            <a:avLst/>
            <a:gdLst/>
            <a:ahLst/>
            <a:cxnLst/>
            <a:rect r="r" b="b" t="t" l="l"/>
            <a:pathLst>
              <a:path h="823852" w="2359993">
                <a:moveTo>
                  <a:pt x="2359993" y="0"/>
                </a:moveTo>
                <a:lnTo>
                  <a:pt x="0" y="0"/>
                </a:lnTo>
                <a:lnTo>
                  <a:pt x="0" y="823852"/>
                </a:lnTo>
                <a:lnTo>
                  <a:pt x="2359993" y="823852"/>
                </a:lnTo>
                <a:lnTo>
                  <a:pt x="2359993"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true" flipV="false" rot="0">
            <a:off x="14546157" y="631973"/>
            <a:ext cx="4453058" cy="793454"/>
          </a:xfrm>
          <a:custGeom>
            <a:avLst/>
            <a:gdLst/>
            <a:ahLst/>
            <a:cxnLst/>
            <a:rect r="r" b="b" t="t" l="l"/>
            <a:pathLst>
              <a:path h="793454" w="4453058">
                <a:moveTo>
                  <a:pt x="4453058" y="0"/>
                </a:moveTo>
                <a:lnTo>
                  <a:pt x="0" y="0"/>
                </a:lnTo>
                <a:lnTo>
                  <a:pt x="0" y="793454"/>
                </a:lnTo>
                <a:lnTo>
                  <a:pt x="4453058" y="793454"/>
                </a:lnTo>
                <a:lnTo>
                  <a:pt x="445305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462814" y="1961910"/>
            <a:ext cx="17825186" cy="6359525"/>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Arcade Gamer"/>
                <a:ea typeface="Arcade Gamer"/>
                <a:cs typeface="Arcade Gamer"/>
                <a:sym typeface="Arcade Gamer"/>
              </a:rPr>
              <a:t>Develop a machine learning system that can learn from historical esports match data and predict the </a:t>
            </a:r>
            <a:r>
              <a:rPr lang="en-US" sz="1999">
                <a:solidFill>
                  <a:srgbClr val="FFFFFF"/>
                </a:solidFill>
                <a:latin typeface="Arcade Gamer"/>
                <a:ea typeface="Arcade Gamer"/>
                <a:cs typeface="Arcade Gamer"/>
                <a:sym typeface="Arcade Gamer"/>
              </a:rPr>
              <a:t>OUTCOME OF A TEAM BASED ON RELEVANT MATCH/TEAM FEATURES.</a:t>
            </a:r>
          </a:p>
          <a:p>
            <a:pPr algn="l">
              <a:lnSpc>
                <a:spcPts val="2799"/>
              </a:lnSpc>
              <a:spcBef>
                <a:spcPct val="0"/>
              </a:spcBef>
            </a:pPr>
          </a:p>
          <a:p>
            <a:pPr algn="l">
              <a:lnSpc>
                <a:spcPts val="2799"/>
              </a:lnSpc>
              <a:spcBef>
                <a:spcPct val="0"/>
              </a:spcBef>
            </a:pPr>
            <a:r>
              <a:rPr lang="en-US" sz="1999">
                <a:solidFill>
                  <a:srgbClr val="FFFFFF"/>
                </a:solidFill>
                <a:latin typeface="Arcade Gamer"/>
                <a:ea typeface="Arcade Gamer"/>
                <a:cs typeface="Arcade Gamer"/>
                <a:sym typeface="Arcade Gamer"/>
              </a:rPr>
              <a:t>OBJECTIVES</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LOAD AND UNDERSTAND THE AVAILABLE DATASET.</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CLEAN MISSING, DUPLICATE AND INCONSISTENT DATA.</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PERFORM EXPLORATORY DATA ANALYSIS.</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IDENTIFY USEFUL FEATURES FOR PREDICTION.</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PREVENT DATA LEAKAGE.</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TRAIN DIFFERENT CLASSIFICATION ALGORITHMS.</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COMPARE MODELS USING MULTIPLE EVALUATION METRICS.</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PERFORM CROSS-VALIDATION AND HYPERPARAMETER TUNING.</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SAVE THE FINAL TRAINED MODEL.</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INTEGRATE THE MODEL WITH A FASTAPI BACKEND.</a:t>
            </a:r>
          </a:p>
          <a:p>
            <a:pPr algn="l" marL="431799" indent="-215899" lvl="1">
              <a:lnSpc>
                <a:spcPts val="2799"/>
              </a:lnSpc>
              <a:spcBef>
                <a:spcPct val="0"/>
              </a:spcBef>
              <a:buAutoNum type="arabicPeriod" startAt="1"/>
            </a:pPr>
            <a:r>
              <a:rPr lang="en-US" sz="1999">
                <a:solidFill>
                  <a:srgbClr val="FFFFFF"/>
                </a:solidFill>
                <a:latin typeface="Arcade Gamer"/>
                <a:ea typeface="Arcade Gamer"/>
                <a:cs typeface="Arcade Gamer"/>
                <a:sym typeface="Arcade Gamer"/>
              </a:rPr>
              <a:t>PROVIDE A SIMPLE FRONTEND FOR USER PREDICTIONS.</a:t>
            </a:r>
          </a:p>
          <a:p>
            <a:pPr algn="l">
              <a:lnSpc>
                <a:spcPts val="2799"/>
              </a:lnSpc>
              <a:spcBef>
                <a:spcPct val="0"/>
              </a:spcBef>
            </a:pPr>
            <a:r>
              <a:rPr lang="en-US" sz="1999">
                <a:solidFill>
                  <a:srgbClr val="FFFFFF"/>
                </a:solidFill>
                <a:latin typeface="Arcade Gamer"/>
                <a:ea typeface="Arcade Gamer"/>
                <a:cs typeface="Arcade Gamer"/>
                <a:sym typeface="Arcade Gamer"/>
              </a:rPr>
              <a:t>EXPECTED OUTPUT</a:t>
            </a:r>
          </a:p>
          <a:p>
            <a:pPr algn="l">
              <a:lnSpc>
                <a:spcPts val="2799"/>
              </a:lnSpc>
              <a:spcBef>
                <a:spcPct val="0"/>
              </a:spcBef>
            </a:pPr>
            <a:r>
              <a:rPr lang="en-US" sz="1999">
                <a:solidFill>
                  <a:srgbClr val="FFFFFF"/>
                </a:solidFill>
                <a:latin typeface="Arcade Gamer"/>
                <a:ea typeface="Arcade Gamer"/>
                <a:cs typeface="Arcade Gamer"/>
                <a:sym typeface="Arcade Gamer"/>
              </a:rPr>
              <a:t>INPUT → TEAM/MATCH STATISTICS → ML MODEL → WIN/LOSS + PROBABILITY</a:t>
            </a:r>
          </a:p>
          <a:p>
            <a:pPr algn="l">
              <a:lnSpc>
                <a:spcPts val="279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12552319" y="4864008"/>
            <a:ext cx="5422992" cy="5422992"/>
          </a:xfrm>
          <a:custGeom>
            <a:avLst/>
            <a:gdLst/>
            <a:ahLst/>
            <a:cxnLst/>
            <a:rect r="r" b="b" t="t" l="l"/>
            <a:pathLst>
              <a:path h="5422992" w="5422992">
                <a:moveTo>
                  <a:pt x="0" y="0"/>
                </a:moveTo>
                <a:lnTo>
                  <a:pt x="5422992" y="0"/>
                </a:lnTo>
                <a:lnTo>
                  <a:pt x="5422992" y="5422992"/>
                </a:lnTo>
                <a:lnTo>
                  <a:pt x="0" y="54229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78217" y="7248"/>
            <a:ext cx="9251962" cy="2682874"/>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DATA PROCESSING &amp; FEATURE ENGINEERING</a:t>
            </a:r>
          </a:p>
        </p:txBody>
      </p:sp>
      <p:sp>
        <p:nvSpPr>
          <p:cNvPr name="Freeform 4" id="4"/>
          <p:cNvSpPr/>
          <p:nvPr/>
        </p:nvSpPr>
        <p:spPr>
          <a:xfrm flipH="true" flipV="false" rot="0">
            <a:off x="9144000" y="1263081"/>
            <a:ext cx="2283604" cy="797185"/>
          </a:xfrm>
          <a:custGeom>
            <a:avLst/>
            <a:gdLst/>
            <a:ahLst/>
            <a:cxnLst/>
            <a:rect r="r" b="b" t="t" l="l"/>
            <a:pathLst>
              <a:path h="797185" w="2283604">
                <a:moveTo>
                  <a:pt x="2283604" y="0"/>
                </a:moveTo>
                <a:lnTo>
                  <a:pt x="0" y="0"/>
                </a:lnTo>
                <a:lnTo>
                  <a:pt x="0" y="797185"/>
                </a:lnTo>
                <a:lnTo>
                  <a:pt x="2283604" y="797185"/>
                </a:lnTo>
                <a:lnTo>
                  <a:pt x="228360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4546157" y="631973"/>
            <a:ext cx="4453058" cy="793454"/>
          </a:xfrm>
          <a:custGeom>
            <a:avLst/>
            <a:gdLst/>
            <a:ahLst/>
            <a:cxnLst/>
            <a:rect r="r" b="b" t="t" l="l"/>
            <a:pathLst>
              <a:path h="793454" w="4453058">
                <a:moveTo>
                  <a:pt x="4453058" y="0"/>
                </a:moveTo>
                <a:lnTo>
                  <a:pt x="0" y="0"/>
                </a:lnTo>
                <a:lnTo>
                  <a:pt x="0" y="793454"/>
                </a:lnTo>
                <a:lnTo>
                  <a:pt x="4453058" y="793454"/>
                </a:lnTo>
                <a:lnTo>
                  <a:pt x="44530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909751" y="2741456"/>
            <a:ext cx="11760827" cy="7560346"/>
          </a:xfrm>
          <a:prstGeom prst="rect">
            <a:avLst/>
          </a:prstGeom>
        </p:spPr>
        <p:txBody>
          <a:bodyPr anchor="t" rtlCol="false" tIns="0" lIns="0" bIns="0" rIns="0">
            <a:spAutoFit/>
          </a:bodyPr>
          <a:lstStyle/>
          <a:p>
            <a:pPr algn="l">
              <a:lnSpc>
                <a:spcPts val="2763"/>
              </a:lnSpc>
              <a:spcBef>
                <a:spcPct val="0"/>
              </a:spcBef>
            </a:pPr>
            <a:r>
              <a:rPr lang="en-US" sz="1973">
                <a:solidFill>
                  <a:srgbClr val="FFFFFF"/>
                </a:solidFill>
                <a:latin typeface="Arcade Gamer"/>
                <a:ea typeface="Arcade Gamer"/>
                <a:cs typeface="Arcade Gamer"/>
                <a:sym typeface="Arcade Gamer"/>
              </a:rPr>
              <a:t>1. DATA LOADING</a:t>
            </a:r>
          </a:p>
          <a:p>
            <a:pPr algn="l">
              <a:lnSpc>
                <a:spcPts val="2763"/>
              </a:lnSpc>
              <a:spcBef>
                <a:spcPct val="0"/>
              </a:spcBef>
            </a:pPr>
            <a:r>
              <a:rPr lang="en-US" sz="1973">
                <a:solidFill>
                  <a:srgbClr val="FFFFFF"/>
                </a:solidFill>
                <a:latin typeface="Arcade Gamer"/>
                <a:ea typeface="Arcade Gamer"/>
                <a:cs typeface="Arcade Gamer"/>
                <a:sym typeface="Arcade Gamer"/>
              </a:rPr>
              <a:t>LOAD THE DATASET USING PANDAS</a:t>
            </a:r>
          </a:p>
          <a:p>
            <a:pPr algn="l">
              <a:lnSpc>
                <a:spcPts val="2763"/>
              </a:lnSpc>
              <a:spcBef>
                <a:spcPct val="0"/>
              </a:spcBef>
            </a:pPr>
            <a:r>
              <a:rPr lang="en-US" sz="1973">
                <a:solidFill>
                  <a:srgbClr val="FFFFFF"/>
                </a:solidFill>
                <a:latin typeface="Arcade Gamer"/>
                <a:ea typeface="Arcade Gamer"/>
                <a:cs typeface="Arcade Gamer"/>
                <a:sym typeface="Arcade Gamer"/>
              </a:rPr>
              <a:t>CHECK ROWS, COLUMNS AND DATA TYPES</a:t>
            </a:r>
          </a:p>
          <a:p>
            <a:pPr algn="l">
              <a:lnSpc>
                <a:spcPts val="2763"/>
              </a:lnSpc>
              <a:spcBef>
                <a:spcPct val="0"/>
              </a:spcBef>
            </a:pPr>
            <a:r>
              <a:rPr lang="en-US" sz="1973">
                <a:solidFill>
                  <a:srgbClr val="FFFFFF"/>
                </a:solidFill>
                <a:latin typeface="Arcade Gamer"/>
                <a:ea typeface="Arcade Gamer"/>
                <a:cs typeface="Arcade Gamer"/>
                <a:sym typeface="Arcade Gamer"/>
              </a:rPr>
              <a:t>IDENTIFY THE TARGET VARIABLE</a:t>
            </a:r>
          </a:p>
          <a:p>
            <a:pPr algn="l">
              <a:lnSpc>
                <a:spcPts val="2763"/>
              </a:lnSpc>
              <a:spcBef>
                <a:spcPct val="0"/>
              </a:spcBef>
            </a:pPr>
          </a:p>
          <a:p>
            <a:pPr algn="l">
              <a:lnSpc>
                <a:spcPts val="2763"/>
              </a:lnSpc>
              <a:spcBef>
                <a:spcPct val="0"/>
              </a:spcBef>
            </a:pPr>
            <a:r>
              <a:rPr lang="en-US" sz="1973">
                <a:solidFill>
                  <a:srgbClr val="FFFFFF"/>
                </a:solidFill>
                <a:latin typeface="Arcade Gamer"/>
                <a:ea typeface="Arcade Gamer"/>
                <a:cs typeface="Arcade Gamer"/>
                <a:sym typeface="Arcade Gamer"/>
              </a:rPr>
              <a:t>2. DATA CLEANING</a:t>
            </a:r>
          </a:p>
          <a:p>
            <a:pPr algn="l">
              <a:lnSpc>
                <a:spcPts val="2763"/>
              </a:lnSpc>
              <a:spcBef>
                <a:spcPct val="0"/>
              </a:spcBef>
            </a:pPr>
            <a:r>
              <a:rPr lang="en-US" sz="1973">
                <a:solidFill>
                  <a:srgbClr val="FFFFFF"/>
                </a:solidFill>
                <a:latin typeface="Arcade Gamer"/>
                <a:ea typeface="Arcade Gamer"/>
                <a:cs typeface="Arcade Gamer"/>
                <a:sym typeface="Arcade Gamer"/>
              </a:rPr>
              <a:t>MISSING-VALUE DETECTION</a:t>
            </a:r>
          </a:p>
          <a:p>
            <a:pPr algn="l">
              <a:lnSpc>
                <a:spcPts val="2763"/>
              </a:lnSpc>
              <a:spcBef>
                <a:spcPct val="0"/>
              </a:spcBef>
            </a:pPr>
            <a:r>
              <a:rPr lang="en-US" sz="1973">
                <a:solidFill>
                  <a:srgbClr val="FFFFFF"/>
                </a:solidFill>
                <a:latin typeface="Arcade Gamer"/>
                <a:ea typeface="Arcade Gamer"/>
                <a:cs typeface="Arcade Gamer"/>
                <a:sym typeface="Arcade Gamer"/>
              </a:rPr>
              <a:t>DUPLICATE REMOVAL</a:t>
            </a:r>
          </a:p>
          <a:p>
            <a:pPr algn="l">
              <a:lnSpc>
                <a:spcPts val="2763"/>
              </a:lnSpc>
              <a:spcBef>
                <a:spcPct val="0"/>
              </a:spcBef>
            </a:pPr>
            <a:r>
              <a:rPr lang="en-US" sz="1973">
                <a:solidFill>
                  <a:srgbClr val="FFFFFF"/>
                </a:solidFill>
                <a:latin typeface="Arcade Gamer"/>
                <a:ea typeface="Arcade Gamer"/>
                <a:cs typeface="Arcade Gamer"/>
                <a:sym typeface="Arcade Gamer"/>
              </a:rPr>
              <a:t>DATA-TYPE CORRECTION</a:t>
            </a:r>
          </a:p>
          <a:p>
            <a:pPr algn="l">
              <a:lnSpc>
                <a:spcPts val="2763"/>
              </a:lnSpc>
              <a:spcBef>
                <a:spcPct val="0"/>
              </a:spcBef>
            </a:pPr>
            <a:r>
              <a:rPr lang="en-US" sz="1973">
                <a:solidFill>
                  <a:srgbClr val="FFFFFF"/>
                </a:solidFill>
                <a:latin typeface="Arcade Gamer"/>
                <a:ea typeface="Arcade Gamer"/>
                <a:cs typeface="Arcade Gamer"/>
                <a:sym typeface="Arcade Gamer"/>
              </a:rPr>
              <a:t>UNNECESSARY-COLUMN IDENTIFICATION</a:t>
            </a:r>
          </a:p>
          <a:p>
            <a:pPr algn="l">
              <a:lnSpc>
                <a:spcPts val="2763"/>
              </a:lnSpc>
              <a:spcBef>
                <a:spcPct val="0"/>
              </a:spcBef>
            </a:pPr>
            <a:r>
              <a:rPr lang="en-US" sz="1973">
                <a:solidFill>
                  <a:srgbClr val="FFFFFF"/>
                </a:solidFill>
                <a:latin typeface="Arcade Gamer"/>
                <a:ea typeface="Arcade Gamer"/>
                <a:cs typeface="Arcade Gamer"/>
                <a:sym typeface="Arcade Gamer"/>
              </a:rPr>
              <a:t>DATA LEAKAGE CHECKING</a:t>
            </a:r>
          </a:p>
          <a:p>
            <a:pPr algn="l">
              <a:lnSpc>
                <a:spcPts val="2763"/>
              </a:lnSpc>
              <a:spcBef>
                <a:spcPct val="0"/>
              </a:spcBef>
            </a:pPr>
          </a:p>
          <a:p>
            <a:pPr algn="l">
              <a:lnSpc>
                <a:spcPts val="2763"/>
              </a:lnSpc>
              <a:spcBef>
                <a:spcPct val="0"/>
              </a:spcBef>
            </a:pPr>
            <a:r>
              <a:rPr lang="en-US" sz="1973">
                <a:solidFill>
                  <a:srgbClr val="FFFFFF"/>
                </a:solidFill>
                <a:latin typeface="Arcade Gamer"/>
                <a:ea typeface="Arcade Gamer"/>
                <a:cs typeface="Arcade Gamer"/>
                <a:sym typeface="Arcade Gamer"/>
              </a:rPr>
              <a:t>3. EDA</a:t>
            </a:r>
          </a:p>
          <a:p>
            <a:pPr algn="l">
              <a:lnSpc>
                <a:spcPts val="2763"/>
              </a:lnSpc>
              <a:spcBef>
                <a:spcPct val="0"/>
              </a:spcBef>
            </a:pPr>
            <a:r>
              <a:rPr lang="en-US" sz="1973">
                <a:solidFill>
                  <a:srgbClr val="FFFFFF"/>
                </a:solidFill>
                <a:latin typeface="Arcade Gamer"/>
                <a:ea typeface="Arcade Gamer"/>
                <a:cs typeface="Arcade Gamer"/>
                <a:sym typeface="Arcade Gamer"/>
              </a:rPr>
              <a:t>CLASS DISTRIBUTION</a:t>
            </a:r>
          </a:p>
          <a:p>
            <a:pPr algn="l">
              <a:lnSpc>
                <a:spcPts val="2763"/>
              </a:lnSpc>
              <a:spcBef>
                <a:spcPct val="0"/>
              </a:spcBef>
            </a:pPr>
            <a:r>
              <a:rPr lang="en-US" sz="1973">
                <a:solidFill>
                  <a:srgbClr val="FFFFFF"/>
                </a:solidFill>
                <a:latin typeface="Arcade Gamer"/>
                <a:ea typeface="Arcade Gamer"/>
                <a:cs typeface="Arcade Gamer"/>
                <a:sym typeface="Arcade Gamer"/>
              </a:rPr>
              <a:t>FEATURE DISTRIBUTIONS</a:t>
            </a:r>
          </a:p>
          <a:p>
            <a:pPr algn="l">
              <a:lnSpc>
                <a:spcPts val="2763"/>
              </a:lnSpc>
              <a:spcBef>
                <a:spcPct val="0"/>
              </a:spcBef>
            </a:pPr>
            <a:r>
              <a:rPr lang="en-US" sz="1973">
                <a:solidFill>
                  <a:srgbClr val="FFFFFF"/>
                </a:solidFill>
                <a:latin typeface="Arcade Gamer"/>
                <a:ea typeface="Arcade Gamer"/>
                <a:cs typeface="Arcade Gamer"/>
                <a:sym typeface="Arcade Gamer"/>
              </a:rPr>
              <a:t>CORRELATION ANALYSIS</a:t>
            </a:r>
          </a:p>
          <a:p>
            <a:pPr algn="l">
              <a:lnSpc>
                <a:spcPts val="2763"/>
              </a:lnSpc>
              <a:spcBef>
                <a:spcPct val="0"/>
              </a:spcBef>
            </a:pPr>
            <a:r>
              <a:rPr lang="en-US" sz="1973">
                <a:solidFill>
                  <a:srgbClr val="FFFFFF"/>
                </a:solidFill>
                <a:latin typeface="Arcade Gamer"/>
                <a:ea typeface="Arcade Gamer"/>
                <a:cs typeface="Arcade Gamer"/>
                <a:sym typeface="Arcade Gamer"/>
              </a:rPr>
              <a:t>BOXPLOTS</a:t>
            </a:r>
          </a:p>
          <a:p>
            <a:pPr algn="l">
              <a:lnSpc>
                <a:spcPts val="2763"/>
              </a:lnSpc>
              <a:spcBef>
                <a:spcPct val="0"/>
              </a:spcBef>
            </a:pPr>
            <a:r>
              <a:rPr lang="en-US" sz="1973">
                <a:solidFill>
                  <a:srgbClr val="FFFFFF"/>
                </a:solidFill>
                <a:latin typeface="Arcade Gamer"/>
                <a:ea typeface="Arcade Gamer"/>
                <a:cs typeface="Arcade Gamer"/>
                <a:sym typeface="Arcade Gamer"/>
              </a:rPr>
              <a:t>WIN VS LOSS ANALYSIS</a:t>
            </a:r>
          </a:p>
          <a:p>
            <a:pPr algn="l">
              <a:lnSpc>
                <a:spcPts val="2763"/>
              </a:lnSpc>
              <a:spcBef>
                <a:spcPct val="0"/>
              </a:spcBef>
            </a:pPr>
          </a:p>
          <a:p>
            <a:pPr algn="l">
              <a:lnSpc>
                <a:spcPts val="2763"/>
              </a:lnSpc>
              <a:spcBef>
                <a:spcPct val="0"/>
              </a:spcBef>
            </a:pPr>
            <a:r>
              <a:rPr lang="en-US" sz="1973">
                <a:solidFill>
                  <a:srgbClr val="FFFFFF"/>
                </a:solidFill>
                <a:latin typeface="Arcade Gamer"/>
                <a:ea typeface="Arcade Gamer"/>
                <a:cs typeface="Arcade Gamer"/>
                <a:sym typeface="Arcade Gamer"/>
              </a:rPr>
              <a:t>4. FEATURE ENGINEERING</a:t>
            </a:r>
          </a:p>
          <a:p>
            <a:pPr algn="l">
              <a:lnSpc>
                <a:spcPts val="2763"/>
              </a:lnSpc>
              <a:spcBef>
                <a:spcPct val="0"/>
              </a:spcBef>
            </a:pPr>
            <a:r>
              <a:rPr lang="en-US" sz="1973">
                <a:solidFill>
                  <a:srgbClr val="FFFFFF"/>
                </a:solidFill>
                <a:latin typeface="Arcade Gamer"/>
                <a:ea typeface="Arcade Gamer"/>
                <a:cs typeface="Arcade Gamer"/>
                <a:sym typeface="Arcade Gamer"/>
              </a:rPr>
              <a:t>ONLY USEFUL FEATURES AVAILABLE IN THE DATASET ARE SELECTED.</a:t>
            </a:r>
          </a:p>
          <a:p>
            <a:pPr algn="l">
              <a:lnSpc>
                <a:spcPts val="2763"/>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251317" y="5372644"/>
            <a:ext cx="5248342" cy="4914356"/>
          </a:xfrm>
          <a:custGeom>
            <a:avLst/>
            <a:gdLst/>
            <a:ahLst/>
            <a:cxnLst/>
            <a:rect r="r" b="b" t="t" l="l"/>
            <a:pathLst>
              <a:path h="4914356" w="5248342">
                <a:moveTo>
                  <a:pt x="0" y="0"/>
                </a:moveTo>
                <a:lnTo>
                  <a:pt x="5248342" y="0"/>
                </a:lnTo>
                <a:lnTo>
                  <a:pt x="5248342" y="4914356"/>
                </a:lnTo>
                <a:lnTo>
                  <a:pt x="0" y="49143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21479" y="-413826"/>
            <a:ext cx="2494479" cy="2494479"/>
          </a:xfrm>
          <a:custGeom>
            <a:avLst/>
            <a:gdLst/>
            <a:ahLst/>
            <a:cxnLst/>
            <a:rect r="r" b="b" t="t" l="l"/>
            <a:pathLst>
              <a:path h="2494479" w="2494479">
                <a:moveTo>
                  <a:pt x="0" y="0"/>
                </a:moveTo>
                <a:lnTo>
                  <a:pt x="2494478" y="0"/>
                </a:lnTo>
                <a:lnTo>
                  <a:pt x="2494478" y="2494479"/>
                </a:lnTo>
                <a:lnTo>
                  <a:pt x="0" y="24944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725760" y="1256800"/>
            <a:ext cx="2359993" cy="823852"/>
          </a:xfrm>
          <a:custGeom>
            <a:avLst/>
            <a:gdLst/>
            <a:ahLst/>
            <a:cxnLst/>
            <a:rect r="r" b="b" t="t" l="l"/>
            <a:pathLst>
              <a:path h="823852" w="2359993">
                <a:moveTo>
                  <a:pt x="2359993" y="0"/>
                </a:moveTo>
                <a:lnTo>
                  <a:pt x="0" y="0"/>
                </a:lnTo>
                <a:lnTo>
                  <a:pt x="0" y="823853"/>
                </a:lnTo>
                <a:lnTo>
                  <a:pt x="2359993" y="823853"/>
                </a:lnTo>
                <a:lnTo>
                  <a:pt x="235999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901945" y="574331"/>
            <a:ext cx="2908065" cy="518164"/>
          </a:xfrm>
          <a:custGeom>
            <a:avLst/>
            <a:gdLst/>
            <a:ahLst/>
            <a:cxnLst/>
            <a:rect r="r" b="b" t="t" l="l"/>
            <a:pathLst>
              <a:path h="518164" w="2908065">
                <a:moveTo>
                  <a:pt x="2908065" y="0"/>
                </a:moveTo>
                <a:lnTo>
                  <a:pt x="0" y="0"/>
                </a:lnTo>
                <a:lnTo>
                  <a:pt x="0" y="518164"/>
                </a:lnTo>
                <a:lnTo>
                  <a:pt x="2908065" y="518164"/>
                </a:lnTo>
                <a:lnTo>
                  <a:pt x="2908065"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Object 6" id="6"/>
          <p:cNvGraphicFramePr/>
          <p:nvPr/>
        </p:nvGraphicFramePr>
        <p:xfrm>
          <a:off x="5806496" y="2836810"/>
          <a:ext cx="3771900" cy="3771900"/>
        </p:xfrm>
        <a:graphic>
          <a:graphicData uri="http://schemas.openxmlformats.org/presentationml/2006/ole">
            <p:oleObj imgW="4521200" imgH="45212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7" id="7"/>
          <p:cNvSpPr txBox="true"/>
          <p:nvPr/>
        </p:nvSpPr>
        <p:spPr>
          <a:xfrm rot="0">
            <a:off x="5493596" y="332576"/>
            <a:ext cx="11082182" cy="1797049"/>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MACHINE LEARNING MODELS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14539328" y="9097648"/>
            <a:ext cx="3902796" cy="1135359"/>
          </a:xfrm>
          <a:custGeom>
            <a:avLst/>
            <a:gdLst/>
            <a:ahLst/>
            <a:cxnLst/>
            <a:rect r="r" b="b" t="t" l="l"/>
            <a:pathLst>
              <a:path h="1135359" w="3902796">
                <a:moveTo>
                  <a:pt x="0" y="0"/>
                </a:moveTo>
                <a:lnTo>
                  <a:pt x="3902796" y="0"/>
                </a:lnTo>
                <a:lnTo>
                  <a:pt x="3902796" y="1135359"/>
                </a:lnTo>
                <a:lnTo>
                  <a:pt x="0" y="1135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92351" y="1774927"/>
            <a:ext cx="12449588" cy="1797049"/>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CO IMPLEMENTATION &amp; PROJECT MODULES</a:t>
            </a:r>
          </a:p>
        </p:txBody>
      </p:sp>
      <p:sp>
        <p:nvSpPr>
          <p:cNvPr name="Freeform 4" id="4"/>
          <p:cNvSpPr/>
          <p:nvPr/>
        </p:nvSpPr>
        <p:spPr>
          <a:xfrm flipH="false" flipV="false" rot="0">
            <a:off x="16929112" y="-224599"/>
            <a:ext cx="1796695" cy="1796695"/>
          </a:xfrm>
          <a:custGeom>
            <a:avLst/>
            <a:gdLst/>
            <a:ahLst/>
            <a:cxnLst/>
            <a:rect r="r" b="b" t="t" l="l"/>
            <a:pathLst>
              <a:path h="1796695" w="1796695">
                <a:moveTo>
                  <a:pt x="0" y="0"/>
                </a:moveTo>
                <a:lnTo>
                  <a:pt x="1796695" y="0"/>
                </a:lnTo>
                <a:lnTo>
                  <a:pt x="1796695" y="1796695"/>
                </a:lnTo>
                <a:lnTo>
                  <a:pt x="0" y="17966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079197" y="978701"/>
            <a:ext cx="1699829" cy="593395"/>
          </a:xfrm>
          <a:custGeom>
            <a:avLst/>
            <a:gdLst/>
            <a:ahLst/>
            <a:cxnLst/>
            <a:rect r="r" b="b" t="t" l="l"/>
            <a:pathLst>
              <a:path h="593395" w="1699829">
                <a:moveTo>
                  <a:pt x="0" y="0"/>
                </a:moveTo>
                <a:lnTo>
                  <a:pt x="1699830" y="0"/>
                </a:lnTo>
                <a:lnTo>
                  <a:pt x="1699830" y="593395"/>
                </a:lnTo>
                <a:lnTo>
                  <a:pt x="0" y="5933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106743" y="978701"/>
            <a:ext cx="2908065" cy="518164"/>
          </a:xfrm>
          <a:custGeom>
            <a:avLst/>
            <a:gdLst/>
            <a:ahLst/>
            <a:cxnLst/>
            <a:rect r="r" b="b" t="t" l="l"/>
            <a:pathLst>
              <a:path h="518164" w="2908065">
                <a:moveTo>
                  <a:pt x="0" y="0"/>
                </a:moveTo>
                <a:lnTo>
                  <a:pt x="2908065" y="0"/>
                </a:lnTo>
                <a:lnTo>
                  <a:pt x="2908065" y="518165"/>
                </a:lnTo>
                <a:lnTo>
                  <a:pt x="0" y="5181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3282339" y="966505"/>
            <a:ext cx="1699829" cy="593395"/>
          </a:xfrm>
          <a:custGeom>
            <a:avLst/>
            <a:gdLst/>
            <a:ahLst/>
            <a:cxnLst/>
            <a:rect r="r" b="b" t="t" l="l"/>
            <a:pathLst>
              <a:path h="593395" w="1699829">
                <a:moveTo>
                  <a:pt x="0" y="0"/>
                </a:moveTo>
                <a:lnTo>
                  <a:pt x="1699829" y="0"/>
                </a:lnTo>
                <a:lnTo>
                  <a:pt x="1699829" y="593395"/>
                </a:lnTo>
                <a:lnTo>
                  <a:pt x="0" y="5933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4804259" y="757234"/>
            <a:ext cx="2908065" cy="518164"/>
          </a:xfrm>
          <a:custGeom>
            <a:avLst/>
            <a:gdLst/>
            <a:ahLst/>
            <a:cxnLst/>
            <a:rect r="r" b="b" t="t" l="l"/>
            <a:pathLst>
              <a:path h="518164" w="2908065">
                <a:moveTo>
                  <a:pt x="2908065" y="0"/>
                </a:moveTo>
                <a:lnTo>
                  <a:pt x="0" y="0"/>
                </a:lnTo>
                <a:lnTo>
                  <a:pt x="0" y="518165"/>
                </a:lnTo>
                <a:lnTo>
                  <a:pt x="2908065" y="518165"/>
                </a:lnTo>
                <a:lnTo>
                  <a:pt x="2908065"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Object 9" id="9"/>
          <p:cNvGraphicFramePr/>
          <p:nvPr/>
        </p:nvGraphicFramePr>
        <p:xfrm>
          <a:off x="2556176" y="4219676"/>
          <a:ext cx="3771900" cy="4400550"/>
        </p:xfrm>
        <a:graphic>
          <a:graphicData uri="http://schemas.openxmlformats.org/presentationml/2006/ole">
            <p:oleObj imgW="4648200" imgH="52705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Freeform 10" id="10"/>
          <p:cNvSpPr/>
          <p:nvPr/>
        </p:nvSpPr>
        <p:spPr>
          <a:xfrm flipH="false" flipV="false" rot="0">
            <a:off x="113079" y="9250048"/>
            <a:ext cx="3902796" cy="1135359"/>
          </a:xfrm>
          <a:custGeom>
            <a:avLst/>
            <a:gdLst/>
            <a:ahLst/>
            <a:cxnLst/>
            <a:rect r="r" b="b" t="t" l="l"/>
            <a:pathLst>
              <a:path h="1135359" w="3902796">
                <a:moveTo>
                  <a:pt x="0" y="0"/>
                </a:moveTo>
                <a:lnTo>
                  <a:pt x="3902796" y="0"/>
                </a:lnTo>
                <a:lnTo>
                  <a:pt x="3902796" y="1135359"/>
                </a:lnTo>
                <a:lnTo>
                  <a:pt x="0" y="11353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true" flipV="false" rot="0">
            <a:off x="16681517" y="409711"/>
            <a:ext cx="2359993" cy="823852"/>
          </a:xfrm>
          <a:custGeom>
            <a:avLst/>
            <a:gdLst/>
            <a:ahLst/>
            <a:cxnLst/>
            <a:rect r="r" b="b" t="t" l="l"/>
            <a:pathLst>
              <a:path h="823852" w="2359993">
                <a:moveTo>
                  <a:pt x="2359993" y="0"/>
                </a:moveTo>
                <a:lnTo>
                  <a:pt x="0" y="0"/>
                </a:lnTo>
                <a:lnTo>
                  <a:pt x="0" y="823852"/>
                </a:lnTo>
                <a:lnTo>
                  <a:pt x="2359993" y="823852"/>
                </a:lnTo>
                <a:lnTo>
                  <a:pt x="235999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333" y="562555"/>
            <a:ext cx="2908065" cy="518164"/>
          </a:xfrm>
          <a:custGeom>
            <a:avLst/>
            <a:gdLst/>
            <a:ahLst/>
            <a:cxnLst/>
            <a:rect r="r" b="b" t="t" l="l"/>
            <a:pathLst>
              <a:path h="518164" w="2908065">
                <a:moveTo>
                  <a:pt x="0" y="0"/>
                </a:moveTo>
                <a:lnTo>
                  <a:pt x="2908066" y="0"/>
                </a:lnTo>
                <a:lnTo>
                  <a:pt x="2908066" y="518164"/>
                </a:lnTo>
                <a:lnTo>
                  <a:pt x="0" y="5181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573696" y="200025"/>
            <a:ext cx="6362121" cy="9867629"/>
          </a:xfrm>
          <a:custGeom>
            <a:avLst/>
            <a:gdLst/>
            <a:ahLst/>
            <a:cxnLst/>
            <a:rect r="r" b="b" t="t" l="l"/>
            <a:pathLst>
              <a:path h="9867629" w="6362121">
                <a:moveTo>
                  <a:pt x="0" y="0"/>
                </a:moveTo>
                <a:lnTo>
                  <a:pt x="6362121" y="0"/>
                </a:lnTo>
                <a:lnTo>
                  <a:pt x="6362121" y="9867629"/>
                </a:lnTo>
                <a:lnTo>
                  <a:pt x="0" y="9867629"/>
                </a:lnTo>
                <a:lnTo>
                  <a:pt x="0" y="0"/>
                </a:lnTo>
                <a:close/>
              </a:path>
            </a:pathLst>
          </a:custGeom>
          <a:blipFill>
            <a:blip r:embed="rId6"/>
            <a:stretch>
              <a:fillRect l="0" t="-1462" r="0" b="-1462"/>
            </a:stretch>
          </a:blipFill>
        </p:spPr>
      </p:sp>
      <p:sp>
        <p:nvSpPr>
          <p:cNvPr name="TextBox 5" id="5"/>
          <p:cNvSpPr txBox="true"/>
          <p:nvPr/>
        </p:nvSpPr>
        <p:spPr>
          <a:xfrm rot="0">
            <a:off x="1324008" y="1664813"/>
            <a:ext cx="6882152" cy="1797049"/>
          </a:xfrm>
          <a:prstGeom prst="rect">
            <a:avLst/>
          </a:prstGeom>
        </p:spPr>
        <p:txBody>
          <a:bodyPr anchor="t" rtlCol="false" tIns="0" lIns="0" bIns="0" rIns="0">
            <a:spAutoFit/>
          </a:bodyPr>
          <a:lstStyle/>
          <a:p>
            <a:pPr algn="l">
              <a:lnSpc>
                <a:spcPts val="7000"/>
              </a:lnSpc>
              <a:spcBef>
                <a:spcPct val="0"/>
              </a:spcBef>
            </a:pPr>
            <a:r>
              <a:rPr lang="en-US" sz="5000">
                <a:solidFill>
                  <a:srgbClr val="FFFFFF"/>
                </a:solidFill>
                <a:latin typeface="Arcade Gamer"/>
                <a:ea typeface="Arcade Gamer"/>
                <a:cs typeface="Arcade Gamer"/>
                <a:sym typeface="Arcade Gamer"/>
              </a:rPr>
              <a:t>SYSTEM ARCHITECTURE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693887" y="8914976"/>
            <a:ext cx="4718258" cy="1372584"/>
          </a:xfrm>
          <a:custGeom>
            <a:avLst/>
            <a:gdLst/>
            <a:ahLst/>
            <a:cxnLst/>
            <a:rect r="r" b="b" t="t" l="l"/>
            <a:pathLst>
              <a:path h="1372584" w="4718258">
                <a:moveTo>
                  <a:pt x="0" y="0"/>
                </a:moveTo>
                <a:lnTo>
                  <a:pt x="4718258" y="0"/>
                </a:lnTo>
                <a:lnTo>
                  <a:pt x="4718258" y="1372584"/>
                </a:lnTo>
                <a:lnTo>
                  <a:pt x="0" y="13725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488791" y="666052"/>
            <a:ext cx="2359993" cy="823852"/>
          </a:xfrm>
          <a:custGeom>
            <a:avLst/>
            <a:gdLst/>
            <a:ahLst/>
            <a:cxnLst/>
            <a:rect r="r" b="b" t="t" l="l"/>
            <a:pathLst>
              <a:path h="823852" w="2359993">
                <a:moveTo>
                  <a:pt x="2359994" y="0"/>
                </a:moveTo>
                <a:lnTo>
                  <a:pt x="0" y="0"/>
                </a:lnTo>
                <a:lnTo>
                  <a:pt x="0" y="823852"/>
                </a:lnTo>
                <a:lnTo>
                  <a:pt x="2359994" y="823852"/>
                </a:lnTo>
                <a:lnTo>
                  <a:pt x="23599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25333" y="562555"/>
            <a:ext cx="2908065" cy="518164"/>
          </a:xfrm>
          <a:custGeom>
            <a:avLst/>
            <a:gdLst/>
            <a:ahLst/>
            <a:cxnLst/>
            <a:rect r="r" b="b" t="t" l="l"/>
            <a:pathLst>
              <a:path h="518164" w="2908065">
                <a:moveTo>
                  <a:pt x="0" y="0"/>
                </a:moveTo>
                <a:lnTo>
                  <a:pt x="2908066" y="0"/>
                </a:lnTo>
                <a:lnTo>
                  <a:pt x="2908066" y="518164"/>
                </a:lnTo>
                <a:lnTo>
                  <a:pt x="0" y="5181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9964053" y="1070656"/>
            <a:ext cx="1914952" cy="341210"/>
          </a:xfrm>
          <a:custGeom>
            <a:avLst/>
            <a:gdLst/>
            <a:ahLst/>
            <a:cxnLst/>
            <a:rect r="r" b="b" t="t" l="l"/>
            <a:pathLst>
              <a:path h="341210" w="1914952">
                <a:moveTo>
                  <a:pt x="1914952" y="0"/>
                </a:moveTo>
                <a:lnTo>
                  <a:pt x="0" y="0"/>
                </a:lnTo>
                <a:lnTo>
                  <a:pt x="0" y="341209"/>
                </a:lnTo>
                <a:lnTo>
                  <a:pt x="1914952" y="341209"/>
                </a:lnTo>
                <a:lnTo>
                  <a:pt x="191495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700570" y="8899080"/>
            <a:ext cx="4718258" cy="1372584"/>
          </a:xfrm>
          <a:custGeom>
            <a:avLst/>
            <a:gdLst/>
            <a:ahLst/>
            <a:cxnLst/>
            <a:rect r="r" b="b" t="t" l="l"/>
            <a:pathLst>
              <a:path h="1372584" w="4718258">
                <a:moveTo>
                  <a:pt x="0" y="0"/>
                </a:moveTo>
                <a:lnTo>
                  <a:pt x="4718258" y="0"/>
                </a:lnTo>
                <a:lnTo>
                  <a:pt x="4718258" y="1372584"/>
                </a:lnTo>
                <a:lnTo>
                  <a:pt x="0" y="13725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77117" y="1358306"/>
            <a:ext cx="9487258" cy="1642744"/>
          </a:xfrm>
          <a:prstGeom prst="rect">
            <a:avLst/>
          </a:prstGeom>
        </p:spPr>
        <p:txBody>
          <a:bodyPr anchor="t" rtlCol="false" tIns="0" lIns="0" bIns="0" rIns="0">
            <a:spAutoFit/>
          </a:bodyPr>
          <a:lstStyle/>
          <a:p>
            <a:pPr algn="ctr">
              <a:lnSpc>
                <a:spcPts val="12880"/>
              </a:lnSpc>
            </a:pPr>
            <a:r>
              <a:rPr lang="en-US" sz="9200">
                <a:solidFill>
                  <a:srgbClr val="FFFFFF"/>
                </a:solidFill>
                <a:latin typeface="Arcade Gamer"/>
                <a:ea typeface="Arcade Gamer"/>
                <a:cs typeface="Arcade Gamer"/>
                <a:sym typeface="Arcade Gamer"/>
              </a:rPr>
              <a:t>conclusion</a:t>
            </a:r>
          </a:p>
        </p:txBody>
      </p:sp>
      <p:sp>
        <p:nvSpPr>
          <p:cNvPr name="TextBox 8" id="8"/>
          <p:cNvSpPr txBox="true"/>
          <p:nvPr/>
        </p:nvSpPr>
        <p:spPr>
          <a:xfrm rot="0">
            <a:off x="1051851" y="3206240"/>
            <a:ext cx="16877382" cy="5660764"/>
          </a:xfrm>
          <a:prstGeom prst="rect">
            <a:avLst/>
          </a:prstGeom>
        </p:spPr>
        <p:txBody>
          <a:bodyPr anchor="t" rtlCol="false" tIns="0" lIns="0" bIns="0" rIns="0">
            <a:spAutoFit/>
          </a:bodyPr>
          <a:lstStyle/>
          <a:p>
            <a:pPr algn="l">
              <a:lnSpc>
                <a:spcPts val="2483"/>
              </a:lnSpc>
            </a:pPr>
            <a:r>
              <a:rPr lang="en-US" sz="1774">
                <a:solidFill>
                  <a:srgbClr val="FFFFFF"/>
                </a:solidFill>
                <a:latin typeface="Arcade Gamer"/>
                <a:ea typeface="Arcade Gamer"/>
                <a:cs typeface="Arcade Gamer"/>
                <a:sym typeface="Arcade Gamer"/>
              </a:rPr>
              <a:t>Esports Team Win Prediction System</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Developed an ML-based system to predict WIN / LOSS outcomes.</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Performed data cleaning, ED</a:t>
            </a:r>
            <a:r>
              <a:rPr lang="en-US" sz="1774">
                <a:solidFill>
                  <a:srgbClr val="FFFFFF"/>
                </a:solidFill>
                <a:latin typeface="Arcade Gamer"/>
                <a:ea typeface="Arcade Gamer"/>
                <a:cs typeface="Arcade Gamer"/>
                <a:sym typeface="Arcade Gamer"/>
              </a:rPr>
              <a:t>A, preprocessing, and feature engineering.</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Implemented and compared multiple ML models:</a:t>
            </a:r>
          </a:p>
          <a:p>
            <a:pPr algn="l" marL="766057" indent="-255352" lvl="2">
              <a:lnSpc>
                <a:spcPts val="2483"/>
              </a:lnSpc>
              <a:buFont typeface="Arial"/>
              <a:buChar char="⚬"/>
            </a:pPr>
            <a:r>
              <a:rPr lang="en-US" sz="1774">
                <a:solidFill>
                  <a:srgbClr val="FFFFFF"/>
                </a:solidFill>
                <a:latin typeface="Arcade Gamer"/>
                <a:ea typeface="Arcade Gamer"/>
                <a:cs typeface="Arcade Gamer"/>
                <a:sym typeface="Arcade Gamer"/>
              </a:rPr>
              <a:t>Logistic Regression</a:t>
            </a:r>
          </a:p>
          <a:p>
            <a:pPr algn="l" marL="766057" indent="-255352" lvl="2">
              <a:lnSpc>
                <a:spcPts val="2483"/>
              </a:lnSpc>
              <a:buFont typeface="Arial"/>
              <a:buChar char="⚬"/>
            </a:pPr>
            <a:r>
              <a:rPr lang="en-US" sz="1774">
                <a:solidFill>
                  <a:srgbClr val="FFFFFF"/>
                </a:solidFill>
                <a:latin typeface="Arcade Gamer"/>
                <a:ea typeface="Arcade Gamer"/>
                <a:cs typeface="Arcade Gamer"/>
                <a:sym typeface="Arcade Gamer"/>
              </a:rPr>
              <a:t>Decision Tree</a:t>
            </a:r>
          </a:p>
          <a:p>
            <a:pPr algn="l" marL="766057" indent="-255352" lvl="2">
              <a:lnSpc>
                <a:spcPts val="2483"/>
              </a:lnSpc>
              <a:buFont typeface="Arial"/>
              <a:buChar char="⚬"/>
            </a:pPr>
            <a:r>
              <a:rPr lang="en-US" sz="1774">
                <a:solidFill>
                  <a:srgbClr val="FFFFFF"/>
                </a:solidFill>
                <a:latin typeface="Arcade Gamer"/>
                <a:ea typeface="Arcade Gamer"/>
                <a:cs typeface="Arcade Gamer"/>
                <a:sym typeface="Arcade Gamer"/>
              </a:rPr>
              <a:t>Random Forest</a:t>
            </a:r>
          </a:p>
          <a:p>
            <a:pPr algn="l" marL="766057" indent="-255352" lvl="2">
              <a:lnSpc>
                <a:spcPts val="2483"/>
              </a:lnSpc>
              <a:buFont typeface="Arial"/>
              <a:buChar char="⚬"/>
            </a:pPr>
            <a:r>
              <a:rPr lang="en-US" sz="1774">
                <a:solidFill>
                  <a:srgbClr val="FFFFFF"/>
                </a:solidFill>
                <a:latin typeface="Arcade Gamer"/>
                <a:ea typeface="Arcade Gamer"/>
                <a:cs typeface="Arcade Gamer"/>
                <a:sym typeface="Arcade Gamer"/>
              </a:rPr>
              <a:t>Boosting</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Used cross-validation, hyperparameter tuning, and evaluation metrics to improve model reliability.</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Identified important features influencing the prediction.</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Integrated the final model with FastAPI and a simple web frontend for real-time predictions.</a:t>
            </a:r>
          </a:p>
          <a:p>
            <a:pPr algn="l">
              <a:lnSpc>
                <a:spcPts val="2483"/>
              </a:lnSpc>
            </a:pPr>
            <a:r>
              <a:rPr lang="en-US" sz="1774">
                <a:solidFill>
                  <a:srgbClr val="FFFFFF"/>
                </a:solidFill>
                <a:latin typeface="Arcade Gamer"/>
                <a:ea typeface="Arcade Gamer"/>
                <a:cs typeface="Arcade Gamer"/>
                <a:sym typeface="Arcade Gamer"/>
              </a:rPr>
              <a:t>Future Scope</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Add more historical match data</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Improve feature engineering</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Support multiple esports games</a:t>
            </a:r>
          </a:p>
          <a:p>
            <a:pPr algn="l" marL="383029" indent="-191514" lvl="1">
              <a:lnSpc>
                <a:spcPts val="2483"/>
              </a:lnSpc>
              <a:buFont typeface="Arial"/>
              <a:buChar char="•"/>
            </a:pPr>
            <a:r>
              <a:rPr lang="en-US" sz="1774">
                <a:solidFill>
                  <a:srgbClr val="FFFFFF"/>
                </a:solidFill>
                <a:latin typeface="Arcade Gamer"/>
                <a:ea typeface="Arcade Gamer"/>
                <a:cs typeface="Arcade Gamer"/>
                <a:sym typeface="Arcade Gamer"/>
              </a:rPr>
              <a:t>Deploy the system as a live prediction dashboard</a:t>
            </a:r>
          </a:p>
          <a:p>
            <a:pPr algn="l">
              <a:lnSpc>
                <a:spcPts val="2483"/>
              </a:lnSpc>
            </a:pPr>
            <a:r>
              <a:rPr lang="en-US" sz="1774">
                <a:solidFill>
                  <a:srgbClr val="FFFFFF"/>
                </a:solidFill>
                <a:latin typeface="Arcade Gamer"/>
                <a:ea typeface="Arcade Gamer"/>
                <a:cs typeface="Arcade Gamer"/>
                <a:sym typeface="Arcade Gamer"/>
              </a:rPr>
              <a:t>→ Final Outcome: A complete end-to-end ML pipeline from dataset to deployed WIN/LOSS prediction.</a:t>
            </a:r>
          </a:p>
          <a:p>
            <a:pPr algn="l">
              <a:lnSpc>
                <a:spcPts val="2483"/>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2022B"/>
        </a:solidFill>
      </p:bgPr>
    </p:bg>
    <p:spTree>
      <p:nvGrpSpPr>
        <p:cNvPr id="1" name=""/>
        <p:cNvGrpSpPr/>
        <p:nvPr/>
      </p:nvGrpSpPr>
      <p:grpSpPr>
        <a:xfrm>
          <a:off x="0" y="0"/>
          <a:ext cx="0" cy="0"/>
          <a:chOff x="0" y="0"/>
          <a:chExt cx="0" cy="0"/>
        </a:xfrm>
      </p:grpSpPr>
      <p:sp>
        <p:nvSpPr>
          <p:cNvPr name="Freeform 2" id="2"/>
          <p:cNvSpPr/>
          <p:nvPr/>
        </p:nvSpPr>
        <p:spPr>
          <a:xfrm flipH="false" flipV="false" rot="0">
            <a:off x="7413606" y="24958"/>
            <a:ext cx="4028788" cy="4028788"/>
          </a:xfrm>
          <a:custGeom>
            <a:avLst/>
            <a:gdLst/>
            <a:ahLst/>
            <a:cxnLst/>
            <a:rect r="r" b="b" t="t" l="l"/>
            <a:pathLst>
              <a:path h="4028788" w="4028788">
                <a:moveTo>
                  <a:pt x="0" y="0"/>
                </a:moveTo>
                <a:lnTo>
                  <a:pt x="4028787" y="0"/>
                </a:lnTo>
                <a:lnTo>
                  <a:pt x="4028787" y="4028787"/>
                </a:lnTo>
                <a:lnTo>
                  <a:pt x="0" y="4028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658980" y="3889047"/>
            <a:ext cx="13538040" cy="4064550"/>
          </a:xfrm>
          <a:prstGeom prst="rect">
            <a:avLst/>
          </a:prstGeom>
        </p:spPr>
        <p:txBody>
          <a:bodyPr anchor="t" rtlCol="false" tIns="0" lIns="0" bIns="0" rIns="0">
            <a:spAutoFit/>
          </a:bodyPr>
          <a:lstStyle/>
          <a:p>
            <a:pPr algn="ctr">
              <a:lnSpc>
                <a:spcPts val="15062"/>
              </a:lnSpc>
            </a:pPr>
            <a:r>
              <a:rPr lang="en-US" sz="16195">
                <a:solidFill>
                  <a:srgbClr val="FFFFFF"/>
                </a:solidFill>
                <a:latin typeface="Arcade Gamer"/>
                <a:ea typeface="Arcade Gamer"/>
                <a:cs typeface="Arcade Gamer"/>
                <a:sym typeface="Arcade Gamer"/>
              </a:rPr>
              <a:t>THANK</a:t>
            </a:r>
          </a:p>
          <a:p>
            <a:pPr algn="ctr">
              <a:lnSpc>
                <a:spcPts val="15062"/>
              </a:lnSpc>
            </a:pPr>
            <a:r>
              <a:rPr lang="en-US" sz="16195">
                <a:solidFill>
                  <a:srgbClr val="FFFFFF"/>
                </a:solidFill>
                <a:latin typeface="Arcade Gamer"/>
                <a:ea typeface="Arcade Gamer"/>
                <a:cs typeface="Arcade Gamer"/>
                <a:sym typeface="Arcade Gamer"/>
              </a:rPr>
              <a:t>YOU</a:t>
            </a:r>
          </a:p>
        </p:txBody>
      </p:sp>
      <p:sp>
        <p:nvSpPr>
          <p:cNvPr name="Freeform 4" id="4"/>
          <p:cNvSpPr/>
          <p:nvPr/>
        </p:nvSpPr>
        <p:spPr>
          <a:xfrm flipH="false" flipV="false" rot="0">
            <a:off x="4257771" y="1710223"/>
            <a:ext cx="1885630" cy="658256"/>
          </a:xfrm>
          <a:custGeom>
            <a:avLst/>
            <a:gdLst/>
            <a:ahLst/>
            <a:cxnLst/>
            <a:rect r="r" b="b" t="t" l="l"/>
            <a:pathLst>
              <a:path h="658256" w="1885630">
                <a:moveTo>
                  <a:pt x="0" y="0"/>
                </a:moveTo>
                <a:lnTo>
                  <a:pt x="1885631" y="0"/>
                </a:lnTo>
                <a:lnTo>
                  <a:pt x="1885631" y="658257"/>
                </a:lnTo>
                <a:lnTo>
                  <a:pt x="0" y="6582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2144598" y="1710223"/>
            <a:ext cx="1885630" cy="658256"/>
          </a:xfrm>
          <a:custGeom>
            <a:avLst/>
            <a:gdLst/>
            <a:ahLst/>
            <a:cxnLst/>
            <a:rect r="r" b="b" t="t" l="l"/>
            <a:pathLst>
              <a:path h="658256" w="1885630">
                <a:moveTo>
                  <a:pt x="1885631" y="0"/>
                </a:moveTo>
                <a:lnTo>
                  <a:pt x="0" y="0"/>
                </a:lnTo>
                <a:lnTo>
                  <a:pt x="0" y="658257"/>
                </a:lnTo>
                <a:lnTo>
                  <a:pt x="1885631" y="658257"/>
                </a:lnTo>
                <a:lnTo>
                  <a:pt x="188563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1215" y="631973"/>
            <a:ext cx="2996082" cy="533847"/>
          </a:xfrm>
          <a:custGeom>
            <a:avLst/>
            <a:gdLst/>
            <a:ahLst/>
            <a:cxnLst/>
            <a:rect r="r" b="b" t="t" l="l"/>
            <a:pathLst>
              <a:path h="533847" w="2996082">
                <a:moveTo>
                  <a:pt x="0" y="0"/>
                </a:moveTo>
                <a:lnTo>
                  <a:pt x="2996082" y="0"/>
                </a:lnTo>
                <a:lnTo>
                  <a:pt x="2996082" y="533847"/>
                </a:lnTo>
                <a:lnTo>
                  <a:pt x="0" y="53384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6003133" y="631973"/>
            <a:ext cx="2996082" cy="533847"/>
          </a:xfrm>
          <a:custGeom>
            <a:avLst/>
            <a:gdLst/>
            <a:ahLst/>
            <a:cxnLst/>
            <a:rect r="r" b="b" t="t" l="l"/>
            <a:pathLst>
              <a:path h="533847" w="2996082">
                <a:moveTo>
                  <a:pt x="2996082" y="0"/>
                </a:moveTo>
                <a:lnTo>
                  <a:pt x="0" y="0"/>
                </a:lnTo>
                <a:lnTo>
                  <a:pt x="0" y="533847"/>
                </a:lnTo>
                <a:lnTo>
                  <a:pt x="2996082" y="533847"/>
                </a:lnTo>
                <a:lnTo>
                  <a:pt x="2996082"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87195" y="8713507"/>
            <a:ext cx="9215438" cy="1563968"/>
          </a:xfrm>
          <a:prstGeom prst="rect">
            <a:avLst/>
          </a:prstGeom>
        </p:spPr>
        <p:txBody>
          <a:bodyPr anchor="t" rtlCol="false" tIns="0" lIns="0" bIns="0" rIns="0">
            <a:spAutoFit/>
          </a:bodyPr>
          <a:lstStyle/>
          <a:p>
            <a:pPr algn="l">
              <a:lnSpc>
                <a:spcPts val="4076"/>
              </a:lnSpc>
            </a:pPr>
            <a:r>
              <a:rPr lang="en-US" sz="2912">
                <a:solidFill>
                  <a:srgbClr val="FFFFFF"/>
                </a:solidFill>
                <a:latin typeface="Arcade Gamer"/>
                <a:ea typeface="Arcade Gamer"/>
                <a:cs typeface="Arcade Gamer"/>
                <a:sym typeface="Arcade Gamer"/>
              </a:rPr>
              <a:t>presented by</a:t>
            </a:r>
          </a:p>
          <a:p>
            <a:pPr algn="l">
              <a:lnSpc>
                <a:spcPts val="4076"/>
              </a:lnSpc>
            </a:pPr>
            <a:r>
              <a:rPr lang="en-US" sz="2912">
                <a:solidFill>
                  <a:srgbClr val="FFFFFF"/>
                </a:solidFill>
                <a:latin typeface="Arcade Gamer"/>
                <a:ea typeface="Arcade Gamer"/>
                <a:cs typeface="Arcade Gamer"/>
                <a:sym typeface="Arcade Gamer"/>
              </a:rPr>
              <a:t>2520090075 B guru sai </a:t>
            </a:r>
          </a:p>
          <a:p>
            <a:pPr algn="l">
              <a:lnSpc>
                <a:spcPts val="4076"/>
              </a:lnSpc>
            </a:pPr>
            <a:r>
              <a:rPr lang="en-US" sz="2912">
                <a:solidFill>
                  <a:srgbClr val="FFFFFF"/>
                </a:solidFill>
                <a:latin typeface="Arcade Gamer"/>
                <a:ea typeface="Arcade Gamer"/>
                <a:cs typeface="Arcade Gamer"/>
                <a:sym typeface="Arcade Gamer"/>
              </a:rPr>
              <a:t>2520090083 s varun sridhar reddy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DAHW7P_dEOI</dc:identifier>
  <dcterms:modified xsi:type="dcterms:W3CDTF">2011-08-01T06:04:30Z</dcterms:modified>
  <cp:revision>1</cp:revision>
  <dc:title>Esports Team Win Prediction System</dc:title>
</cp:coreProperties>
</file>